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% de fatalidade por traçado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fatalidade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Reta</c:v>
                  </c:pt>
                  <c:pt idx="1">
                    <c:v>Curva</c:v>
                  </c:pt>
                  <c:pt idx="2">
                    <c:v>Outro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12.98</c:v>
                </c:pt>
                <c:pt idx="1">
                  <c:v>13.05</c:v>
                </c:pt>
                <c:pt idx="2">
                  <c:v>5.77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% de fatalidade por tipo de pista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fatalidade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Simples</c:v>
                  </c:pt>
                  <c:pt idx="1">
                    <c:v>Dupla</c:v>
                  </c:pt>
                  <c:pt idx="2">
                    <c:v>Múltipla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9.86</c:v>
                </c:pt>
                <c:pt idx="1">
                  <c:v>4.88</c:v>
                </c:pt>
                <c:pt idx="2">
                  <c:v>4.06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% de fatalidade por fase do dia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fatalidade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Pleno dia</c:v>
                  </c:pt>
                  <c:pt idx="1">
                    <c:v>Anoitecer</c:v>
                  </c:pt>
                  <c:pt idx="2">
                    <c:v>Plena noite</c:v>
                  </c:pt>
                  <c:pt idx="3">
                    <c:v>Amanhecer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5.08</c:v>
                </c:pt>
                <c:pt idx="1">
                  <c:v>6.44</c:v>
                </c:pt>
                <c:pt idx="2">
                  <c:v>10.18</c:v>
                </c:pt>
                <c:pt idx="3">
                  <c:v>11.2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% de fatalidade por condição meteorológica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fatalidade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Sol</c:v>
                  </c:pt>
                  <c:pt idx="1">
                    <c:v>Garoa/Chuvisco</c:v>
                  </c:pt>
                  <c:pt idx="2">
                    <c:v>Chuva</c:v>
                  </c:pt>
                  <c:pt idx="3">
                    <c:v>Nublado</c:v>
                  </c:pt>
                  <c:pt idx="4">
                    <c:v>Céu claro</c:v>
                  </c:pt>
                  <c:pt idx="5">
                    <c:v>Vento</c:v>
                  </c:pt>
                  <c:pt idx="6">
                    <c:v>Ignorado</c:v>
                  </c:pt>
                  <c:pt idx="7">
                    <c:v>Nevoeiro/Neblina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5.88</c:v>
                </c:pt>
                <c:pt idx="1">
                  <c:v>5.95</c:v>
                </c:pt>
                <c:pt idx="2">
                  <c:v>6.24</c:v>
                </c:pt>
                <c:pt idx="3">
                  <c:v>7.26</c:v>
                </c:pt>
                <c:pt idx="4">
                  <c:v>7.37</c:v>
                </c:pt>
                <c:pt idx="5">
                  <c:v>8.65</c:v>
                </c:pt>
                <c:pt idx="6">
                  <c:v>9.9</c:v>
                </c:pt>
                <c:pt idx="7">
                  <c:v>10.85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% de fatalidade — causas de maior risco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fatalidade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Pedestre andava na pista</c:v>
                  </c:pt>
                  <c:pt idx="1">
                    <c:v>Entrada inopinada do pedestre</c:v>
                  </c:pt>
                  <c:pt idx="2">
                    <c:v>Transitar na contramão</c:v>
                  </c:pt>
                  <c:pt idx="3">
                    <c:v>Pedestre fora da faixa</c:v>
                  </c:pt>
                  <c:pt idx="4">
                    <c:v>Ultrapassagem indevida</c:v>
                  </c:pt>
                  <c:pt idx="5">
                    <c:v>Mal súbito do condutor</c:v>
                  </c:pt>
                  <c:pt idx="6">
                    <c:v>Média geral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41.25</c:v>
                </c:pt>
                <c:pt idx="1">
                  <c:v>30.43</c:v>
                </c:pt>
                <c:pt idx="2">
                  <c:v>29.74</c:v>
                </c:pt>
                <c:pt idx="3">
                  <c:v>24.76</c:v>
                </c:pt>
                <c:pt idx="4">
                  <c:v>17.06</c:v>
                </c:pt>
                <c:pt idx="5">
                  <c:v>13.37</c:v>
                </c:pt>
                <c:pt idx="6">
                  <c:v>7.18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ACIDENTES DE TRÂNSITO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Fatalidade em Acidentes de Trânsito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Hipóteses, indicadores e método de verificação a partir dos dados da PRF (2025)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10515600" cy="1554480"/>
          </a:xfrm>
          <a:prstGeom prst="rect">
            <a:avLst/>
          </a:prstGeom>
          <a:solidFill>
            <a:srgbClr val="1F2E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343400"/>
            <a:ext cx="350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72.529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 analisados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28160" y="4343400"/>
            <a:ext cx="350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28160" y="50292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 fatais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33360" y="4343400"/>
            <a:ext cx="350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833360" y="50292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geral de fatalidade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Traçado da via: reta x curva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5486400" cy="46177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 em trechos com curva apresentam maior proporção de fatalidade do que acidentes em retas.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acidentes fatais por tipo de traçado da via.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90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provamos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acidentes fatais ÷ total de acidentes entre trechos retos e curvas.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150876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PRF 2025 — acidentes fatais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pista: simples x dupla x múltipla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5486400" cy="46177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 de pista simples são mais perigosas que vias duplas/múltiplas.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acidentes fatais por tipo de pista.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90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provamos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fatais ÷ total de acidentes em cada tipo de pista.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150876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PRF 2025 — acidentes fatais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do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5486400" cy="46177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 ocorridos durante a noite apresentam maior proporção de fatalidade do que acidentes ocorridos durante o dia.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acidentes fatais por fase do dia.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90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provamos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acidentes fatais ÷ total de acidentes entre as diferentes fases do dia.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150876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PRF 2025 — acidentes fatais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Condição meteorológica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5486400" cy="46177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 ocorridos em condições climáticas adversas (chuva, neblina, vento) apresentam maior proporção de fatalidade do que acidentes em condições favoráveis (sol, céu claro).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acidentes fatais por condição meteorológica.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90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provamos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acidentes fatais ÷ total de acidentes entre as diferentes condições meteorológicas.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150876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PRF 2025 — acidentes fatais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do acidente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5486400" cy="46177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Determinadas causas apresentam maior risco de acidentes fatais.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acidentes fatais por causa.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90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provamos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 taxa de fatalidade entre as diferentes causas na tabela dinâmica.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150876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dados PRF 2025 — causas com no mínimo 500 acidentes registrados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2026-08-26T16:28:07Z</dcterms:created>
  <dcterms:modified xsi:type="dcterms:W3CDTF">2026-08-26T16:28:07Z</dcterms:modified>
</cp:coreProperties>
</file>